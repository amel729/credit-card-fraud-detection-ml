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5" r:id="rId6"/>
    <p:sldId id="266" r:id="rId7"/>
    <p:sldId id="267" r:id="rId8"/>
    <p:sldId id="268" r:id="rId9"/>
    <p:sldId id="260" r:id="rId10"/>
    <p:sldId id="261" r:id="rId11"/>
    <p:sldId id="262" r:id="rId12"/>
    <p:sldId id="263" r:id="rId13"/>
    <p:sldId id="264"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5070" autoAdjust="0"/>
  </p:normalViewPr>
  <p:slideViewPr>
    <p:cSldViewPr snapToGrid="0" snapToObjects="1">
      <p:cViewPr varScale="1">
        <p:scale>
          <a:sx n="105" d="100"/>
          <a:sy n="105" d="100"/>
        </p:scale>
        <p:origin x="1840"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84056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Hello, my name is </a:t>
            </a:r>
            <a:r>
              <a:rPr lang="en-US" dirty="0"/>
              <a:t>Fatma </a:t>
            </a:r>
            <a:r>
              <a:rPr lang="en-US" dirty="0" err="1"/>
              <a:t>MAhfoud</a:t>
            </a:r>
            <a:r>
              <a:rPr dirty="0"/>
              <a:t>. In this presentation I will discuss my project on credit card fraud detection using machine learning.</a:t>
            </a:r>
          </a:p>
          <a:p>
            <a:r>
              <a:rPr dirty="0"/>
              <a:t>The goal of this project is to analyze transaction data and build models that can help identify fraudulent transactions.</a:t>
            </a:r>
          </a:p>
          <a:p>
            <a:r>
              <a:rPr dirty="0"/>
              <a:t>Credit card fraud is a major issue in financial systems, and machine learning provides powerful tools to detect suspicious behavior in large datasets.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Credit card fraud is a growing problem for financial institutions and customers.</a:t>
            </a:r>
          </a:p>
          <a:p>
            <a:r>
              <a:t>Every day millions of transactions are processed, which makes it impossible to manually inspect every transaction.</a:t>
            </a:r>
          </a:p>
          <a:p>
            <a:r>
              <a:t>Because of this, banks and payment systems rely on automated fraud detection systems.</a:t>
            </a:r>
          </a:p>
          <a:p>
            <a:r>
              <a:t>Machine learning models can analyze patterns in transaction data and help identify suspicious activities.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this project I used the credit card fraud detection dataset available on Kaggle.</a:t>
            </a:r>
          </a:p>
          <a:p>
            <a:r>
              <a:t>The dataset contains over two hundred eighty thousand transactions.</a:t>
            </a:r>
          </a:p>
          <a:p>
            <a:r>
              <a:t>Out of these transactions, only four hundred ninety two are labeled as fraudulent.</a:t>
            </a:r>
          </a:p>
          <a:p>
            <a:r>
              <a:t>This means the dataset is highly imbalanced, which makes fraud detection more challenging.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During exploratory data analysis I created several visualizations to better understand the dataset.</a:t>
            </a:r>
          </a:p>
          <a:p>
            <a:r>
              <a:t>The first visualization shows the distribution of fraudulent versus legitimate transactions.</a:t>
            </a:r>
          </a:p>
          <a:p>
            <a:r>
              <a:t>Other plots show transaction amounts and time-based patterns.</a:t>
            </a:r>
          </a:p>
          <a:p>
            <a:r>
              <a:t>I also created a correlation heatmap to explore relationships between variables.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This plot shows the number of legitimate and fraudulent transactions in the dataset. Most transactions are legitimate, while only a small number are fraud. This shows that the dataset is highly imbalanced. Because of this imbalance, special techniques may be needed when building the fraud detection model.</a:t>
            </a:r>
          </a:p>
          <a:p>
            <a:endParaRPr lang="en-US" dirty="0"/>
          </a:p>
        </p:txBody>
      </p:sp>
    </p:spTree>
    <p:extLst>
      <p:ext uri="{BB962C8B-B14F-4D97-AF65-F5344CB8AC3E}">
        <p14:creationId xmlns:p14="http://schemas.microsoft.com/office/powerpoint/2010/main" val="39176119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This plot shows how transaction amounts are distributed. Most transactions involve small amounts, while large transactions are rare. The distribution is highly skewed to the right. This means that the majority of purchases are low-value transactions.</a:t>
            </a:r>
          </a:p>
          <a:p>
            <a:endParaRPr lang="en-US" dirty="0"/>
          </a:p>
        </p:txBody>
      </p:sp>
    </p:spTree>
    <p:extLst>
      <p:ext uri="{BB962C8B-B14F-4D97-AF65-F5344CB8AC3E}">
        <p14:creationId xmlns:p14="http://schemas.microsoft.com/office/powerpoint/2010/main" val="27020548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sz="1200" kern="1200" dirty="0">
                <a:solidFill>
                  <a:schemeClr val="tx1"/>
                </a:solidFill>
                <a:effectLst/>
                <a:latin typeface="+mn-lt"/>
                <a:ea typeface="+mn-ea"/>
                <a:cs typeface="+mn-cs"/>
              </a:rPr>
              <a:t>This curve evaluates the performance of the fraud detection model. The model starts with high precision when recall is low. As recall increases, precision decreases. This shows the trade-off between detecting more fraud cases and increasing false positives.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a:t>
            </a:r>
          </a:p>
          <a:p>
            <a:endParaRPr lang="en-US" dirty="0"/>
          </a:p>
        </p:txBody>
      </p:sp>
    </p:spTree>
    <p:extLst>
      <p:ext uri="{BB962C8B-B14F-4D97-AF65-F5344CB8AC3E}">
        <p14:creationId xmlns:p14="http://schemas.microsoft.com/office/powerpoint/2010/main" val="38759173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sz="1200" kern="1200" dirty="0">
                <a:solidFill>
                  <a:schemeClr val="tx1"/>
                </a:solidFill>
                <a:effectLst/>
                <a:latin typeface="+mn-lt"/>
                <a:ea typeface="+mn-ea"/>
                <a:cs typeface="+mn-cs"/>
              </a:rPr>
              <a:t>This heatmap shows the correlation between the features in the dataset. Most variables have very weak correlations with each other. This is expected because the variables were created using PCA. The fraud class also has low correlation with individual features, which means fraud detection requires analyzing multiple variables together.</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a:t>
            </a:r>
          </a:p>
          <a:p>
            <a:endParaRPr lang="en-US" dirty="0"/>
          </a:p>
        </p:txBody>
      </p:sp>
    </p:spTree>
    <p:extLst>
      <p:ext uri="{BB962C8B-B14F-4D97-AF65-F5344CB8AC3E}">
        <p14:creationId xmlns:p14="http://schemas.microsoft.com/office/powerpoint/2010/main" val="34177559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build the fraud detection model I first performed exploratory data analysis.</a:t>
            </a:r>
          </a:p>
          <a:p>
            <a:r>
              <a:t>Because the dataset is highly imbalanced, I applied SMOTE to help balance the training data.</a:t>
            </a:r>
          </a:p>
          <a:p>
            <a:r>
              <a:t>Then I tested several machine learning models including logistic regression, random forest, and XGBoost.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evaluate the models I used metrics that work well with imbalanced datasets.</a:t>
            </a:r>
          </a:p>
          <a:p>
            <a:r>
              <a:t>These include precision, recall, and the F1-score.</a:t>
            </a:r>
          </a:p>
          <a:p>
            <a:r>
              <a:t>I also used a precision recall curve to evaluate how well the model identifies fraudulent transactions.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Fraud detection systems must consider ethical issues.</a:t>
            </a:r>
          </a:p>
          <a:p>
            <a:r>
              <a:t>Financial data is sensitive and must be handled carefully.</a:t>
            </a:r>
          </a:p>
          <a:p>
            <a:r>
              <a:t>Another concern is false positives, where legitimate transactions are incorrectly flagged as fraud.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of the biggest challenges in this project was the extreme imbalance between legitimate and fraudulent transactions.</a:t>
            </a:r>
          </a:p>
          <a:p>
            <a:r>
              <a:t>Fraud cases represent less than one percent of the data.</a:t>
            </a:r>
          </a:p>
          <a:p>
            <a:r>
              <a:t>Additionally, the PCA transformed variables make interpretation more difficult.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conclusion, machine learning models can be very useful in detecting fraudulent transactions.</a:t>
            </a:r>
          </a:p>
          <a:p>
            <a:r>
              <a:t>Handling class imbalance is important for building effective models.</a:t>
            </a:r>
          </a:p>
          <a:p>
            <a:r>
              <a:t>Future improvements could include using deep learning methods or larger datasets to improve detection accuracy.</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3/15/26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3/15/26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3/15/26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3/15/26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1.png"/><Relationship Id="rId5"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m4a"/><Relationship Id="rId1" Type="http://schemas.microsoft.com/office/2007/relationships/media" Target="../media/media8.m4a"/><Relationship Id="rId5" Type="http://schemas.openxmlformats.org/officeDocument/2006/relationships/image" Target="../media/image1.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9.m4a"/><Relationship Id="rId1" Type="http://schemas.microsoft.com/office/2007/relationships/media" Target="../media/media9.m4a"/><Relationship Id="rId5" Type="http://schemas.openxmlformats.org/officeDocument/2006/relationships/image" Target="../media/image1.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0.m4a"/><Relationship Id="rId1" Type="http://schemas.microsoft.com/office/2007/relationships/media" Target="../media/media10.m4a"/><Relationship Id="rId5" Type="http://schemas.openxmlformats.org/officeDocument/2006/relationships/image" Target="../media/image1.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1.m4a"/><Relationship Id="rId1" Type="http://schemas.microsoft.com/office/2007/relationships/media" Target="../media/media11.m4a"/><Relationship Id="rId5" Type="http://schemas.openxmlformats.org/officeDocument/2006/relationships/image" Target="../media/image1.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2.m4a"/><Relationship Id="rId1" Type="http://schemas.microsoft.com/office/2007/relationships/media" Target="../media/media12.m4a"/><Relationship Id="rId5" Type="http://schemas.openxmlformats.org/officeDocument/2006/relationships/image" Target="../media/image1.png"/><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Credit Card Fraud Detection Using Machine Learning</a:t>
            </a:r>
          </a:p>
        </p:txBody>
      </p:sp>
      <p:sp>
        <p:nvSpPr>
          <p:cNvPr id="3" name="Content Placeholder 2"/>
          <p:cNvSpPr>
            <a:spLocks noGrp="1"/>
          </p:cNvSpPr>
          <p:nvPr>
            <p:ph idx="1"/>
          </p:nvPr>
        </p:nvSpPr>
        <p:spPr/>
        <p:txBody>
          <a:bodyPr/>
          <a:lstStyle/>
          <a:p>
            <a:r>
              <a:rPr dirty="0"/>
              <a:t>Final Project Presentation</a:t>
            </a:r>
          </a:p>
          <a:p>
            <a:r>
              <a:rPr dirty="0"/>
              <a:t>Predictive Analytics</a:t>
            </a:r>
          </a:p>
          <a:p>
            <a:r>
              <a:rPr dirty="0"/>
              <a:t>Fraud Detection Study</a:t>
            </a:r>
            <a:r>
              <a:rPr lang="en-US" dirty="0"/>
              <a:t> by Fatma Mahfoud</a:t>
            </a:r>
            <a:endParaRPr dirty="0"/>
          </a:p>
        </p:txBody>
      </p:sp>
      <p:pic>
        <p:nvPicPr>
          <p:cNvPr id="6" name="Audio 5">
            <a:extLst>
              <a:ext uri="{FF2B5EF4-FFF2-40B4-BE49-F238E27FC236}">
                <a16:creationId xmlns:a16="http://schemas.microsoft.com/office/drawing/2014/main" id="{47398EC6-663A-9420-6FFC-CD72E9B2DE55}"/>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4304"/>
    </mc:Choice>
    <mc:Fallback>
      <p:transition spd="slow" advTm="3430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Business Problem</a:t>
            </a:r>
          </a:p>
        </p:txBody>
      </p:sp>
      <p:sp>
        <p:nvSpPr>
          <p:cNvPr id="3" name="Content Placeholder 2"/>
          <p:cNvSpPr>
            <a:spLocks noGrp="1"/>
          </p:cNvSpPr>
          <p:nvPr>
            <p:ph idx="1"/>
          </p:nvPr>
        </p:nvSpPr>
        <p:spPr/>
        <p:txBody>
          <a:bodyPr/>
          <a:lstStyle/>
          <a:p>
            <a:r>
              <a:t>Credit card fraud causes major financial losses</a:t>
            </a:r>
          </a:p>
          <a:p>
            <a:r>
              <a:t>Millions of transactions occur every day</a:t>
            </a:r>
          </a:p>
          <a:p>
            <a:r>
              <a:t>Manual monitoring is impossible</a:t>
            </a:r>
          </a:p>
          <a:p>
            <a:r>
              <a:t>Machine learning can help detect fraud</a:t>
            </a:r>
          </a:p>
        </p:txBody>
      </p:sp>
      <p:pic>
        <p:nvPicPr>
          <p:cNvPr id="7" name="Audio 6">
            <a:extLst>
              <a:ext uri="{FF2B5EF4-FFF2-40B4-BE49-F238E27FC236}">
                <a16:creationId xmlns:a16="http://schemas.microsoft.com/office/drawing/2014/main" id="{7E76982A-4F81-99AC-9E73-EA37714F5EF5}"/>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8096"/>
    </mc:Choice>
    <mc:Fallback>
      <p:transition spd="slow" advTm="2809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Dataset</a:t>
            </a:r>
          </a:p>
        </p:txBody>
      </p:sp>
      <p:sp>
        <p:nvSpPr>
          <p:cNvPr id="3" name="Content Placeholder 2"/>
          <p:cNvSpPr>
            <a:spLocks noGrp="1"/>
          </p:cNvSpPr>
          <p:nvPr>
            <p:ph idx="1"/>
          </p:nvPr>
        </p:nvSpPr>
        <p:spPr/>
        <p:txBody>
          <a:bodyPr/>
          <a:lstStyle/>
          <a:p>
            <a:r>
              <a:t>Credit Card Fraud Detection dataset from Kaggle</a:t>
            </a:r>
          </a:p>
          <a:p>
            <a:r>
              <a:t>284,807 transactions</a:t>
            </a:r>
          </a:p>
          <a:p>
            <a:r>
              <a:t>492 fraudulent transactions</a:t>
            </a:r>
          </a:p>
          <a:p>
            <a:r>
              <a:t>Features include Time, Amount, and PCA variables</a:t>
            </a:r>
          </a:p>
        </p:txBody>
      </p:sp>
      <p:pic>
        <p:nvPicPr>
          <p:cNvPr id="6" name="Audio 5">
            <a:extLst>
              <a:ext uri="{FF2B5EF4-FFF2-40B4-BE49-F238E27FC236}">
                <a16:creationId xmlns:a16="http://schemas.microsoft.com/office/drawing/2014/main" id="{B9811E66-F071-FCDB-8312-A35FCA2EE8C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6389"/>
    </mc:Choice>
    <mc:Fallback>
      <p:transition spd="slow" advTm="2638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Exploratory Data Analysis</a:t>
            </a:r>
          </a:p>
        </p:txBody>
      </p:sp>
      <p:sp>
        <p:nvSpPr>
          <p:cNvPr id="3" name="Content Placeholder 2"/>
          <p:cNvSpPr>
            <a:spLocks noGrp="1"/>
          </p:cNvSpPr>
          <p:nvPr>
            <p:ph idx="1"/>
          </p:nvPr>
        </p:nvSpPr>
        <p:spPr/>
        <p:txBody>
          <a:bodyPr/>
          <a:lstStyle/>
          <a:p>
            <a:r>
              <a:t>Fraud vs legitimate transaction distribution</a:t>
            </a:r>
          </a:p>
          <a:p>
            <a:r>
              <a:t>Transaction amount distribution</a:t>
            </a:r>
          </a:p>
          <a:p>
            <a:r>
              <a:t>Time-based transaction patterns</a:t>
            </a:r>
          </a:p>
          <a:p>
            <a:r>
              <a:t>Correlation heatmap</a:t>
            </a:r>
          </a:p>
        </p:txBody>
      </p:sp>
      <p:pic>
        <p:nvPicPr>
          <p:cNvPr id="6" name="Audio 5">
            <a:extLst>
              <a:ext uri="{FF2B5EF4-FFF2-40B4-BE49-F238E27FC236}">
                <a16:creationId xmlns:a16="http://schemas.microsoft.com/office/drawing/2014/main" id="{4A608391-63F1-49C7-F870-BC9477DCE8F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7722"/>
    </mc:Choice>
    <mc:Fallback>
      <p:transition spd="slow" advTm="2772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3F180978-2787-F79F-4B50-E3BD825A333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0473" y="434898"/>
            <a:ext cx="7109192" cy="5720096"/>
          </a:xfrm>
          <a:prstGeom prst="rect">
            <a:avLst/>
          </a:prstGeom>
          <a:noFill/>
          <a:extLst>
            <a:ext uri="{909E8E84-426E-40DD-AFC4-6F175D3DCCD1}">
              <a14:hiddenFill xmlns:a14="http://schemas.microsoft.com/office/drawing/2010/main">
                <a:solidFill>
                  <a:srgbClr val="FFFFFF"/>
                </a:solidFill>
              </a14:hiddenFill>
            </a:ext>
          </a:extLst>
        </p:spPr>
      </p:pic>
      <p:pic>
        <p:nvPicPr>
          <p:cNvPr id="4" name="Audio 3">
            <a:extLst>
              <a:ext uri="{FF2B5EF4-FFF2-40B4-BE49-F238E27FC236}">
                <a16:creationId xmlns:a16="http://schemas.microsoft.com/office/drawing/2014/main" id="{B6C03370-1096-336B-2D5A-CCD88B5B6885}"/>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78800" y="5892800"/>
            <a:ext cx="812800" cy="812800"/>
          </a:xfrm>
          <a:prstGeom prst="rect">
            <a:avLst/>
          </a:prstGeom>
        </p:spPr>
      </p:pic>
    </p:spTree>
    <p:extLst>
      <p:ext uri="{BB962C8B-B14F-4D97-AF65-F5344CB8AC3E}">
        <p14:creationId xmlns:p14="http://schemas.microsoft.com/office/powerpoint/2010/main" val="1961644101"/>
      </p:ext>
    </p:extLst>
  </p:cSld>
  <p:clrMapOvr>
    <a:masterClrMapping/>
  </p:clrMapOvr>
  <mc:AlternateContent xmlns:mc="http://schemas.openxmlformats.org/markup-compatibility/2006">
    <mc:Choice xmlns:p14="http://schemas.microsoft.com/office/powerpoint/2010/main" Requires="p14">
      <p:transition spd="slow" p14:dur="2000" advTm="23125"/>
    </mc:Choice>
    <mc:Fallback>
      <p:transition spd="slow" advTm="2312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D1695834-0786-5D14-D769-C956D3D3793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4003" y="363794"/>
            <a:ext cx="6754622" cy="5869858"/>
          </a:xfrm>
          <a:prstGeom prst="rect">
            <a:avLst/>
          </a:prstGeom>
          <a:noFill/>
          <a:extLst>
            <a:ext uri="{909E8E84-426E-40DD-AFC4-6F175D3DCCD1}">
              <a14:hiddenFill xmlns:a14="http://schemas.microsoft.com/office/drawing/2010/main">
                <a:solidFill>
                  <a:srgbClr val="FFFFFF"/>
                </a:solidFill>
              </a14:hiddenFill>
            </a:ext>
          </a:extLst>
        </p:spPr>
      </p:pic>
      <p:pic>
        <p:nvPicPr>
          <p:cNvPr id="4" name="Audio 3">
            <a:extLst>
              <a:ext uri="{FF2B5EF4-FFF2-40B4-BE49-F238E27FC236}">
                <a16:creationId xmlns:a16="http://schemas.microsoft.com/office/drawing/2014/main" id="{1ABDBA49-9BA0-4827-2192-1C0A32F56F8B}"/>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78800" y="5892800"/>
            <a:ext cx="812800" cy="812800"/>
          </a:xfrm>
          <a:prstGeom prst="rect">
            <a:avLst/>
          </a:prstGeom>
        </p:spPr>
      </p:pic>
    </p:spTree>
    <p:extLst>
      <p:ext uri="{BB962C8B-B14F-4D97-AF65-F5344CB8AC3E}">
        <p14:creationId xmlns:p14="http://schemas.microsoft.com/office/powerpoint/2010/main" val="1956119685"/>
      </p:ext>
    </p:extLst>
  </p:cSld>
  <p:clrMapOvr>
    <a:masterClrMapping/>
  </p:clrMapOvr>
  <mc:AlternateContent xmlns:mc="http://schemas.openxmlformats.org/markup-compatibility/2006">
    <mc:Choice xmlns:p14="http://schemas.microsoft.com/office/powerpoint/2010/main" Requires="p14">
      <p:transition spd="slow" p14:dur="2000" advTm="18144"/>
    </mc:Choice>
    <mc:Fallback>
      <p:transition spd="slow" advTm="1814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437D7598-E6A9-B917-B4D9-499F3C3D78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2723" y="241762"/>
            <a:ext cx="6921909" cy="5942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2002687"/>
      </p:ext>
    </p:extLst>
  </p:cSld>
  <p:clrMapOvr>
    <a:masterClrMapping/>
  </p:clrMapOvr>
  <mc:AlternateContent xmlns:mc="http://schemas.openxmlformats.org/markup-compatibility/2006">
    <mc:Choice xmlns:p14="http://schemas.microsoft.com/office/powerpoint/2010/main" Requires="p14">
      <p:transition spd="slow" p14:dur="2000" advTm="19613"/>
    </mc:Choice>
    <mc:Fallback>
      <p:transition spd="slow" advTm="19613"/>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2BE15CCD-5523-9DA6-D022-4428F25FAEC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150" y="0"/>
            <a:ext cx="90297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4" name="Audio 3">
            <a:extLst>
              <a:ext uri="{FF2B5EF4-FFF2-40B4-BE49-F238E27FC236}">
                <a16:creationId xmlns:a16="http://schemas.microsoft.com/office/drawing/2014/main" id="{34A4D572-0FED-DEDE-6D7E-B872DBACA5B2}"/>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78800" y="5892800"/>
            <a:ext cx="812800" cy="812800"/>
          </a:xfrm>
          <a:prstGeom prst="rect">
            <a:avLst/>
          </a:prstGeom>
        </p:spPr>
      </p:pic>
    </p:spTree>
    <p:extLst>
      <p:ext uri="{BB962C8B-B14F-4D97-AF65-F5344CB8AC3E}">
        <p14:creationId xmlns:p14="http://schemas.microsoft.com/office/powerpoint/2010/main" val="189639129"/>
      </p:ext>
    </p:extLst>
  </p:cSld>
  <p:clrMapOvr>
    <a:masterClrMapping/>
  </p:clrMapOvr>
  <mc:AlternateContent xmlns:mc="http://schemas.openxmlformats.org/markup-compatibility/2006">
    <mc:Choice xmlns:p14="http://schemas.microsoft.com/office/powerpoint/2010/main" Requires="p14">
      <p:transition spd="slow" p14:dur="2000" advTm="24096"/>
    </mc:Choice>
    <mc:Fallback>
      <p:transition spd="slow" advTm="2409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Methods</a:t>
            </a:r>
          </a:p>
        </p:txBody>
      </p:sp>
      <p:sp>
        <p:nvSpPr>
          <p:cNvPr id="3" name="Content Placeholder 2"/>
          <p:cNvSpPr>
            <a:spLocks noGrp="1"/>
          </p:cNvSpPr>
          <p:nvPr>
            <p:ph idx="1"/>
          </p:nvPr>
        </p:nvSpPr>
        <p:spPr/>
        <p:txBody>
          <a:bodyPr/>
          <a:lstStyle/>
          <a:p>
            <a:r>
              <a:t>Exploratory data analysis</a:t>
            </a:r>
          </a:p>
          <a:p>
            <a:r>
              <a:t>Handling class imbalance with SMOTE</a:t>
            </a:r>
          </a:p>
          <a:p>
            <a:r>
              <a:t>Machine learning models</a:t>
            </a:r>
          </a:p>
          <a:p>
            <a:r>
              <a:t>Logistic Regression, Random Forest, XGBoost</a:t>
            </a:r>
          </a:p>
        </p:txBody>
      </p:sp>
      <p:pic>
        <p:nvPicPr>
          <p:cNvPr id="6" name="Audio 5">
            <a:extLst>
              <a:ext uri="{FF2B5EF4-FFF2-40B4-BE49-F238E27FC236}">
                <a16:creationId xmlns:a16="http://schemas.microsoft.com/office/drawing/2014/main" id="{BC9650FA-6F50-9C3A-736E-753011B5F6F0}"/>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2026"/>
    </mc:Choice>
    <mc:Fallback>
      <p:transition spd="slow" advTm="2202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 Evaluation</a:t>
            </a:r>
          </a:p>
        </p:txBody>
      </p:sp>
      <p:sp>
        <p:nvSpPr>
          <p:cNvPr id="3" name="Content Placeholder 2"/>
          <p:cNvSpPr>
            <a:spLocks noGrp="1"/>
          </p:cNvSpPr>
          <p:nvPr>
            <p:ph idx="1"/>
          </p:nvPr>
        </p:nvSpPr>
        <p:spPr/>
        <p:txBody>
          <a:bodyPr/>
          <a:lstStyle/>
          <a:p>
            <a:r>
              <a:t>Precision</a:t>
            </a:r>
          </a:p>
          <a:p>
            <a:r>
              <a:t>Recall</a:t>
            </a:r>
          </a:p>
          <a:p>
            <a:r>
              <a:t>F1-score</a:t>
            </a:r>
          </a:p>
          <a:p>
            <a:r>
              <a:t>Precision-Recall curve</a:t>
            </a:r>
          </a:p>
        </p:txBody>
      </p:sp>
      <p:pic>
        <p:nvPicPr>
          <p:cNvPr id="6" name="Audio 5">
            <a:extLst>
              <a:ext uri="{FF2B5EF4-FFF2-40B4-BE49-F238E27FC236}">
                <a16:creationId xmlns:a16="http://schemas.microsoft.com/office/drawing/2014/main" id="{C765C4D9-933D-2E39-119B-AB19A9DB1604}"/>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8432"/>
    </mc:Choice>
    <mc:Fallback>
      <p:transition spd="slow" advTm="1843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Ethical Considerations</a:t>
            </a:r>
          </a:p>
        </p:txBody>
      </p:sp>
      <p:sp>
        <p:nvSpPr>
          <p:cNvPr id="3" name="Content Placeholder 2"/>
          <p:cNvSpPr>
            <a:spLocks noGrp="1"/>
          </p:cNvSpPr>
          <p:nvPr>
            <p:ph idx="1"/>
          </p:nvPr>
        </p:nvSpPr>
        <p:spPr/>
        <p:txBody>
          <a:bodyPr/>
          <a:lstStyle/>
          <a:p>
            <a:r>
              <a:t>Customer data privacy</a:t>
            </a:r>
          </a:p>
          <a:p>
            <a:r>
              <a:t>Responsible use of financial data</a:t>
            </a:r>
          </a:p>
          <a:p>
            <a:r>
              <a:t>Avoid unnecessary transaction blocking</a:t>
            </a:r>
          </a:p>
        </p:txBody>
      </p:sp>
      <p:pic>
        <p:nvPicPr>
          <p:cNvPr id="6" name="Audio 5">
            <a:extLst>
              <a:ext uri="{FF2B5EF4-FFF2-40B4-BE49-F238E27FC236}">
                <a16:creationId xmlns:a16="http://schemas.microsoft.com/office/drawing/2014/main" id="{470B4932-C2EB-3DAF-B5D6-F2CE0D1EDB66}"/>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0106"/>
    </mc:Choice>
    <mc:Fallback>
      <p:transition spd="slow" advTm="2010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Challenges</a:t>
            </a:r>
          </a:p>
        </p:txBody>
      </p:sp>
      <p:sp>
        <p:nvSpPr>
          <p:cNvPr id="3" name="Content Placeholder 2"/>
          <p:cNvSpPr>
            <a:spLocks noGrp="1"/>
          </p:cNvSpPr>
          <p:nvPr>
            <p:ph idx="1"/>
          </p:nvPr>
        </p:nvSpPr>
        <p:spPr/>
        <p:txBody>
          <a:bodyPr/>
          <a:lstStyle/>
          <a:p>
            <a:r>
              <a:t>Highly imbalanced dataset</a:t>
            </a:r>
          </a:p>
          <a:p>
            <a:r>
              <a:t>Fraud transactions are rare</a:t>
            </a:r>
          </a:p>
          <a:p>
            <a:r>
              <a:t>PCA features difficult to interpret</a:t>
            </a:r>
          </a:p>
        </p:txBody>
      </p:sp>
      <p:pic>
        <p:nvPicPr>
          <p:cNvPr id="6" name="Audio 5">
            <a:extLst>
              <a:ext uri="{FF2B5EF4-FFF2-40B4-BE49-F238E27FC236}">
                <a16:creationId xmlns:a16="http://schemas.microsoft.com/office/drawing/2014/main" id="{FB3D08B1-61FB-EE3B-892C-2291EA9ADE61}"/>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6597"/>
    </mc:Choice>
    <mc:Fallback>
      <p:transition spd="slow" advTm="1659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Machine learning helps detect fraud</a:t>
            </a:r>
          </a:p>
          <a:p>
            <a:r>
              <a:t>Handling imbalance improves results</a:t>
            </a:r>
          </a:p>
          <a:p>
            <a:r>
              <a:t>Future work: deeper models and more data</a:t>
            </a:r>
          </a:p>
        </p:txBody>
      </p:sp>
      <p:pic>
        <p:nvPicPr>
          <p:cNvPr id="6" name="Audio 5">
            <a:extLst>
              <a:ext uri="{FF2B5EF4-FFF2-40B4-BE49-F238E27FC236}">
                <a16:creationId xmlns:a16="http://schemas.microsoft.com/office/drawing/2014/main" id="{A6561E13-2028-E447-E044-A1FC66202231}"/>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0929"/>
    </mc:Choice>
    <mc:Fallback>
      <p:transition spd="slow" advTm="2092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782</Words>
  <Application>Microsoft Macintosh PowerPoint</Application>
  <PresentationFormat>On-screen Show (4:3)</PresentationFormat>
  <Paragraphs>79</Paragraphs>
  <Slides>13</Slides>
  <Notes>13</Notes>
  <HiddenSlides>0</HiddenSlides>
  <MMClips>12</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Credit Card Fraud Detection Using Machine Learning</vt:lpstr>
      <vt:lpstr>Business Problem</vt:lpstr>
      <vt:lpstr>Dataset</vt:lpstr>
      <vt:lpstr>Exploratory Data Analysis</vt:lpstr>
      <vt:lpstr>PowerPoint Presentation</vt:lpstr>
      <vt:lpstr>PowerPoint Presentation</vt:lpstr>
      <vt:lpstr>PowerPoint Presentation</vt:lpstr>
      <vt:lpstr>PowerPoint Presentation</vt:lpstr>
      <vt:lpstr>Methods</vt:lpstr>
      <vt:lpstr>Model Evaluation</vt:lpstr>
      <vt:lpstr>Ethical Considerations</vt:lpstr>
      <vt:lpstr>Challenges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Nasr, Asel A</cp:lastModifiedBy>
  <cp:revision>3</cp:revision>
  <dcterms:created xsi:type="dcterms:W3CDTF">2013-01-27T09:14:16Z</dcterms:created>
  <dcterms:modified xsi:type="dcterms:W3CDTF">2026-03-15T20:03:46Z</dcterms:modified>
  <cp:category/>
</cp:coreProperties>
</file>